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作者单位：Independent、University of Oxford、MATS Research、AI Security Company。论文版本 v1，2026-10-05。此页汇报人和日期可自行补充。</a:t>
            </a:r>
          </a:p>
          <a:p>
            <a:endParaRPr/>
          </a:p>
          <a:p>
            <a:r>
              <a:t>来源：论文第 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论文研究层级式 agent-as-tool 系统。核心发现是单智能体 CaMeL 的 CFI 保证一般不具组合性；multi-CaMeL 通过跨边界来源保留修复这一问题。0.0% 是本论文 MultiAgentDojo 实验结果，不是对任意攻击的普遍保证。</a:t>
            </a:r>
          </a:p>
          <a:p>
            <a:endParaRPr/>
          </a:p>
          <a:p>
            <a:r>
              <a:t>来源：论文第 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PLLM 为 Privileged LLM，QLLM 为 Quarantined LLM。原始论文将 CaMeL 定位为 Dual LLM 模式的系统级实现，解释器追踪依赖并在工具边界检查策略。</a:t>
            </a:r>
          </a:p>
          <a:p>
            <a:endParaRPr/>
          </a:p>
          <a:p>
            <a:r>
              <a:t>来源：论文第 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CFI 即 Control-Flow Integrity。原文指出工具派生的不可信数据可影响预设计划内的分支，但不能引入新路径。CaMeL 同时允许附加基于能力标签的数据流策略；本文实验采用平凡策略。</a:t>
            </a:r>
          </a:p>
          <a:p>
            <a:endParaRPr/>
          </a:p>
          <a:p>
            <a:r>
              <a:t>来源：论文第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论文对层级树状拓扑建模：一个根智能体，非根智能体有唯一父节点；调用返回值像普通工具返回值一样交给父节点。结果不直接涵盖 DAG、循环或对等结构。</a:t>
            </a:r>
          </a:p>
          <a:p>
            <a:endParaRPr/>
          </a:p>
          <a:p>
            <a:r>
              <a:t>来源：论文第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图中真实示例是向 Julie 的 Slack 总结任务；注入诱导 Notification Agent 额外调用 send_email，将申请人信息发送到 ruth@email.com。论文图 2/3 展示无注入和有注入时通知智能体计划的变化。Fig. 2。</a:t>
            </a:r>
          </a:p>
          <a:p>
            <a:endParaRPr/>
          </a:p>
          <a:p>
            <a:r>
              <a:t>来源：论文第 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“非平凡”指至少两个智能体。证明按含工具的节点有父或子两种情形展开。这里的结论针对论文定义的层级 agent-as-tool 系统，并依赖表达性假设，不应泛化成任意多智能体架构的无条件定理。</a:t>
            </a:r>
          </a:p>
          <a:p>
            <a:endParaRPr/>
          </a:p>
          <a:p>
            <a:r>
              <a:t>来源：论文第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实验在 OMNI-Leak 设置中对每个智能体部署 CaMeL，GPT-5.2 同时充当 PLLM 与 QLLM。作者强调这并不否定 CaMeL 的单体价值。</a:t>
            </a:r>
          </a:p>
          <a:p>
            <a:endParaRPr/>
          </a:p>
          <a:p>
            <a:r>
              <a:t>来源：论文第 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协议接口增加 variables 字典，工具派生数据由此传递。子智能体可通过 get_variable(variable_name) 在运行时获得变量值，但其规划模型不直接看到内容。整理自论文 Fig. 4。</a:t>
            </a:r>
          </a:p>
          <a:p>
            <a:endParaRPr/>
          </a:p>
          <a:p>
            <a:r>
              <a:t>来源：论文第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第一项对系统级 CFI 充分。第二项使非平凡安全策略能在全系统被执行。与单智能体 CaMeL 不同，multi-CaMeL 解释器本身对于 CFI 保证也不可缺少，即使未配置非平凡策略。</a:t>
            </a:r>
          </a:p>
          <a:p>
            <a:endParaRPr/>
          </a:p>
          <a:p>
            <a:r>
              <a:t>来源：论文第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证明思路：每个智能体单独满足 CFI，计划由可信输入固定；multi-CaMeL 防止不可信数据进入子智能体指令通道；递归展开所有调用点得到由可信输入确定的系统级计划。Branch steering 是在已列出的分支间选择，并非引入新控制流。</a:t>
            </a:r>
          </a:p>
          <a:p>
            <a:endParaRPr/>
          </a:p>
          <a:p>
            <a:r>
              <a:t>来源：论文第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MultiAgentDojo 将 Workspace、Banking、Slack 和 Travel 工具分配给 2–4 个专门子智能体，并加入编排器。论文注明工具描述补充返回 schema 是 CaMeL 获得合理效用所需的评测设置。</a:t>
            </a:r>
          </a:p>
          <a:p>
            <a:endParaRPr/>
          </a:p>
          <a:p>
            <a:r>
              <a:t>来源：论文第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数据取自论文摘要及 MultiAgentDojo 安全结果（Table III）。Individual CaMeL 的成功攻击是边界洗白案例。强调基准经验结果和理论保证的边界。</a:t>
            </a:r>
          </a:p>
          <a:p>
            <a:endParaRPr/>
          </a:p>
          <a:p>
            <a:r>
              <a:t>来源：论文第 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AssetOpsBench 结果，排除 29 个无法按要求完成的任务，n=112。表中为成功率百分比，完整 95% Wald 置信区间见论文 Table IV。论文称 Individual CaMeL 相对无防护平均降低 21.6 点，multi-CaMeL 相对单体平均额外降低 3.2 点；Fable 5 与 GPT-5.5 两模型为 0.85 点。</a:t>
            </a:r>
          </a:p>
          <a:p>
            <a:endParaRPr/>
          </a:p>
          <a:p>
            <a:r>
              <a:t>来源：论文第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论文明确讨论了其定义与 TIPNI 等性质的差异，以及未采取分支中赋值的隐式依赖问题。建议把大纲中的讨论题当作听众提问，而非论文已回答的结论。</a:t>
            </a:r>
          </a:p>
          <a:p>
            <a:endParaRPr/>
          </a:p>
          <a:p>
            <a:r>
              <a:t>来源：论文第 11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收束时强调原则：跨越智能体边界，不应隐式提升信息的信任等级。基准上的 ASR 结果仅描述本文实验条件。</a:t>
            </a:r>
          </a:p>
          <a:p>
            <a:endParaRPr/>
          </a:p>
          <a:p>
            <a:r>
              <a:t>来源：论文第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40BB-4480-4DC3-8C16-3BA1ED8BE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AD69C-D3ED-48A5-AEF9-3B869CC7E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A352-A938-4B14-A840-3D6E37DD71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DB44A-C186-42D0-8C2F-D0AA85D1CB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EE25-F47C-44CB-8299-498A23F4F0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2465-BD05-4C7F-96C4-BAB684DE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6499C-8456-48C9-9A17-AE01393F2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62FB4-4C91-4F70-A4F4-B6342706B1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977B4-1012-4B5A-945A-0DC6538784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A952-0282-4057-8EC1-2E1A281AC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69AB-E793-4BB3-BACA-044319A0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5DEEE-D8EA-494B-9E0E-986638A3D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BA817-04FD-49B1-A03B-125E6D391F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8A52-BA3B-42B1-BBD5-D3519980D7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FE586-6DB9-47A5-85DB-CC1F11642E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8450-3943-43BD-95E6-A603E6AD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2498F-6FB0-474D-B3B4-1BD796846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D7BAF-BB6D-4B74-8A5B-CD5005973DC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E775B-5B98-4356-9EBF-6289D97042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1B7A1-3E1B-4C25-A3BF-DDE835EDE4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CE652-52C1-4286-B9CD-E7EB3149DC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F84A-BAD1-46F0-925B-847CBBE1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03D43-B6E3-4319-BCF0-BB12DA9F0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21CB7-92C0-426A-8623-4AE28B8075E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3D044-FB0B-4C6D-8EB9-AB5ECF8F20F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6B688-BBFB-4F5F-BA00-D5C624A3100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807A0-9CD8-48EB-8B82-E3B5220503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4F2CE-7EB7-4624-A109-8E71A42B56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1DE12-EEF6-4CAC-A7CE-BC81CA6EDD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664B-B7A2-4770-A180-5955B9A6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FEC12-15C7-4F2C-BE90-EB03950FE6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B695F-8DF3-4F22-ACC8-95D2C6D609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32AD5-9A01-48C3-809A-6F145FF433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D7FE2-55B1-469F-B32D-9F73356D3F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22899-E448-45C7-997D-CA9447E4D5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1322F-9BC6-4E17-997F-7F4E4C2C73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D4E1-4666-4849-B10D-EFCE0F4C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6D41-CD5F-46E3-934C-1FEC4EACA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AD2F4-D774-450E-9235-6CFA8DDEB0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3FA0-0F60-42AF-93F8-9C17AF547F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FCF64-BBC0-4875-8555-6DA330F2E4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94DA0-2686-4BC4-B322-4CD35EEAB1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4F9-88C2-4625-8382-4487F1A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5EF4D-2D60-4AF6-A315-74DC5130D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AC339-5A0E-4083-8B64-0D21231D776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AF2FD-9C07-4EA6-B93D-4D57AB1855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8DB9F-AE83-4653-B1D2-946D0F6635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FCA53-910C-47A9-882C-7CA628B3E0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CFF3-BB1B-4F72-A20E-A8C3382F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45F29-A2AD-47D9-97ED-4DB503AF2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E69D-D9B3-4FBC-A785-B44471CA5C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A6D86-92F6-4E9E-8DFA-10050E9298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008E1-DB7D-4780-B571-01F34F7814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A48AD-699B-4D9A-B477-76C7A31D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95A79-3FF9-403A-9BB4-F674D2BC8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53E17-8A44-4340-819E-9EC991B9E0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0203-4F37-4C81-8257-4CD8D814AA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689A-DEA0-4C01-837C-6A5DB1EA68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3A372-2A87-4A15-B38D-1B33E9DC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30181-8411-4089-A4B2-75EF4AC67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336FF-A573-44EA-81D2-B9ECEFBE9E9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2026/10/22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94A38-60D2-466C-A087-90F25BF0119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4543-0966-4ABF-8468-373CD630601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0F8EF5-56BC-4F45-A906-47C89F18D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E6074-1171-4E50-BC99-8D48745F912E}"/>
              </a:ext>
            </a:extLst>
          </p:cNvPr>
          <p:cNvSpPr>
            <a:spLocks noGrp="1"/>
          </p:cNvSpPr>
          <p:nvPr/>
        </p:nvSpPr>
        <p:spPr>
          <a:xfrm>
            <a:off x="822960" y="1051560"/>
            <a:ext cx="97840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1">
                <a:solidFill>
                  <a:srgbClr val="ADCDDC"/>
                </a:solidFill>
                <a:latin typeface="Aptos"/>
                <a:ea typeface="Aptos"/>
                <a:cs typeface="Aptos"/>
              </a:defRPr>
            </a:pPr>
            <a:r>
              <a:t>论文汇报  ·  多智能体系统安全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A5AA0-7B20-4B09-A2FD-4FDF9AEFE224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10058400" cy="1051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4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CaMeL 们能对话吗？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BE22F-FC28-404C-B806-4627386A019B}"/>
              </a:ext>
            </a:extLst>
          </p:cNvPr>
          <p:cNvSpPr>
            <a:spLocks noGrp="1"/>
          </p:cNvSpPr>
          <p:nvPr/>
        </p:nvSpPr>
        <p:spPr>
          <a:xfrm>
            <a:off x="822960" y="2788920"/>
            <a:ext cx="98755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500" b="0">
                <a:solidFill>
                  <a:srgbClr val="E1E8EC"/>
                </a:solidFill>
                <a:latin typeface="Aptos"/>
                <a:ea typeface="Aptos"/>
                <a:cs typeface="Aptos"/>
              </a:defRPr>
            </a:pPr>
            <a:r>
              <a:t>保护多智能体系统免受间接提示注入攻击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E34CF-8B8D-4B75-9A08-71D7CC3A12FE}"/>
              </a:ext>
            </a:extLst>
          </p:cNvPr>
          <p:cNvSpPr>
            <a:spLocks noGrp="1"/>
          </p:cNvSpPr>
          <p:nvPr/>
        </p:nvSpPr>
        <p:spPr>
          <a:xfrm>
            <a:off x="822960" y="3950208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C6D3DD"/>
                </a:solidFill>
                <a:latin typeface="Aptos"/>
                <a:ea typeface="Aptos"/>
                <a:cs typeface="Aptos"/>
              </a:defRPr>
            </a:pPr>
            <a:r>
              <a:t>Can CaMeLs Talk? Securing Multi-Agent Systems Against Indirect Prompt Injection Attacks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26F29-3434-47C2-8F23-F9F77EAF7EE1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978408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James Peters-Gill · Avi Semler · Henning Bartsch · Ilia Shumailov · Christian Schroeder de Witt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10967-0C82-4D6A-9F51-0C8A0BB71783}"/>
              </a:ext>
            </a:extLst>
          </p:cNvPr>
          <p:cNvSpPr>
            <a:spLocks noGrp="1"/>
          </p:cNvSpPr>
          <p:nvPr/>
        </p:nvSpPr>
        <p:spPr>
          <a:xfrm>
            <a:off x="822960" y="5870448"/>
            <a:ext cx="97840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100" b="0">
                <a:solidFill>
                  <a:srgbClr val="ADCDDC"/>
                </a:solidFill>
                <a:latin typeface="Aptos"/>
                <a:ea typeface="Aptos"/>
                <a:cs typeface="Aptos"/>
              </a:defRPr>
            </a:pPr>
            <a:r>
              <a:t>arXiv:2610.05640v1  |  2026</a:t>
            </a:r>
          </a:p>
        </p:txBody>
      </p:sp>
    </p:spTree>
    <p:extLst>
      <p:ext uri="{BB962C8B-B14F-4D97-AF65-F5344CB8AC3E}">
        <p14:creationId xmlns:p14="http://schemas.microsoft.com/office/powerpoint/2010/main" val="170827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CF0E98-9566-424A-A0F7-9A64B771F2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BBCDA-7789-43E1-9379-129E10AB68DE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85331-6E16-445B-8E11-83DCC8BF1533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rPr dirty="0" err="1"/>
              <a:t>安全保证不会自动跨越智能体边界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DFE50-E91D-4303-AE75-2C7031EC3E91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2F436-91D9-4C02-B769-72789E7B738C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4665C-8FBC-4825-B54B-A4CECAA9EE9E}"/>
              </a:ext>
            </a:extLst>
          </p:cNvPr>
          <p:cNvSpPr>
            <a:spLocks noGrp="1"/>
          </p:cNvSpPr>
          <p:nvPr/>
        </p:nvSpPr>
        <p:spPr>
          <a:xfrm>
            <a:off x="868680" y="1645920"/>
            <a:ext cx="1024128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34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单体安全 ≠ 系统安全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A817E-8A2E-47F7-8D8C-2E89A1DF85C3}"/>
              </a:ext>
            </a:extLst>
          </p:cNvPr>
          <p:cNvSpPr>
            <a:spLocks noGrp="1"/>
          </p:cNvSpPr>
          <p:nvPr/>
        </p:nvSpPr>
        <p:spPr>
          <a:xfrm>
            <a:off x="1234440" y="3063240"/>
            <a:ext cx="950976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23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工具返回的不可信内容，可能在下游智能体处被重新解释为可信指令。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CC18D5-537A-40AF-B45A-F78F60588BDF}"/>
              </a:ext>
            </a:extLst>
          </p:cNvPr>
          <p:cNvSpPr>
            <a:spLocks noGrp="1"/>
          </p:cNvSpPr>
          <p:nvPr/>
        </p:nvSpPr>
        <p:spPr>
          <a:xfrm>
            <a:off x="2057400" y="4892040"/>
            <a:ext cx="8092440" cy="658368"/>
          </a:xfrm>
          <a:prstGeom prst="rect">
            <a:avLst/>
          </a:prstGeom>
          <a:solidFill>
            <a:srgbClr val="EEE8DD"/>
          </a:solidFill>
          <a:ln>
            <a:solidFill>
              <a:srgbClr val="EE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649B6-2868-4E81-A062-229CFC788C3C}"/>
              </a:ext>
            </a:extLst>
          </p:cNvPr>
          <p:cNvSpPr>
            <a:spLocks noGrp="1"/>
          </p:cNvSpPr>
          <p:nvPr/>
        </p:nvSpPr>
        <p:spPr>
          <a:xfrm>
            <a:off x="2286000" y="5010912"/>
            <a:ext cx="75895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800" b="1">
                <a:solidFill>
                  <a:srgbClr val="B84339"/>
                </a:solidFill>
                <a:latin typeface="Aptos"/>
                <a:ea typeface="Aptos"/>
                <a:cs typeface="Aptos"/>
              </a:defRPr>
            </a:pPr>
            <a:r>
              <a:t>边界洗白  →  multi-CaMeL  →  基准 ASR 0.0%</a:t>
            </a:r>
          </a:p>
        </p:txBody>
      </p:sp>
    </p:spTree>
    <p:extLst>
      <p:ext uri="{BB962C8B-B14F-4D97-AF65-F5344CB8AC3E}">
        <p14:creationId xmlns:p14="http://schemas.microsoft.com/office/powerpoint/2010/main" val="172435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4335ED-3646-43C8-BA35-57596C7728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32849-B40F-4765-BD38-3ACB9F9E4BD6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CA9D2-3D2E-4C74-8C94-95BB33C405DE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间接提示注入利用外部内容劫持智能体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FDD3D-D40F-40D0-B85D-15EBCC598EA3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71C09-9CBD-4ECD-B92D-EBE5FF8D7E06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2189A-A005-437A-B2E6-7005D25727C8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91440" cy="34747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D16DD0-BAEF-4113-A5CE-FB1430F16534}"/>
              </a:ext>
            </a:extLst>
          </p:cNvPr>
          <p:cNvSpPr>
            <a:spLocks noGrp="1"/>
          </p:cNvSpPr>
          <p:nvPr/>
        </p:nvSpPr>
        <p:spPr>
          <a:xfrm>
            <a:off x="1024128" y="1508760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1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攻击指令藏在网页、邮件、数据库等由智能体读取的内容中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3193E-1EA5-47DA-9C28-7A7D1A023BA0}"/>
              </a:ext>
            </a:extLst>
          </p:cNvPr>
          <p:cNvSpPr>
            <a:spLocks noGrp="1"/>
          </p:cNvSpPr>
          <p:nvPr/>
        </p:nvSpPr>
        <p:spPr>
          <a:xfrm>
            <a:off x="777240" y="2560320"/>
            <a:ext cx="91440" cy="34747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AB0908-FC56-4A2A-8C66-F62920C45711}"/>
              </a:ext>
            </a:extLst>
          </p:cNvPr>
          <p:cNvSpPr>
            <a:spLocks noGrp="1"/>
          </p:cNvSpPr>
          <p:nvPr/>
        </p:nvSpPr>
        <p:spPr>
          <a:xfrm>
            <a:off x="1024128" y="2468880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1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智能体同时接触外部数据与高权限工具，恶意文本可诱导越权操作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13C50D-AA46-46D5-BB7B-A551B864E0A1}"/>
              </a:ext>
            </a:extLst>
          </p:cNvPr>
          <p:cNvSpPr>
            <a:spLocks noGrp="1"/>
          </p:cNvSpPr>
          <p:nvPr/>
        </p:nvSpPr>
        <p:spPr>
          <a:xfrm>
            <a:off x="777240" y="3520440"/>
            <a:ext cx="91440" cy="347472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10CA8-42CA-4F4A-86EB-DE70273D8F6C}"/>
              </a:ext>
            </a:extLst>
          </p:cNvPr>
          <p:cNvSpPr>
            <a:spLocks noGrp="1"/>
          </p:cNvSpPr>
          <p:nvPr/>
        </p:nvSpPr>
        <p:spPr>
          <a:xfrm>
            <a:off x="1024128" y="3429000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1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模型侧过滤依赖模型行为；CaMeL 从系统层分离控制流与数据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EE5F6-E7F0-4255-8D3B-5A53C6C5827A}"/>
              </a:ext>
            </a:extLst>
          </p:cNvPr>
          <p:cNvSpPr>
            <a:spLocks noGrp="1"/>
          </p:cNvSpPr>
          <p:nvPr/>
        </p:nvSpPr>
        <p:spPr>
          <a:xfrm>
            <a:off x="868680" y="5029200"/>
            <a:ext cx="10149840" cy="658368"/>
          </a:xfrm>
          <a:prstGeom prst="rect">
            <a:avLst/>
          </a:prstGeom>
          <a:solidFill>
            <a:srgbClr val="E5ECEF"/>
          </a:solidFill>
          <a:ln>
            <a:solidFill>
              <a:srgbClr val="E5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3921D-B81F-4163-9098-E7E5548693AA}"/>
              </a:ext>
            </a:extLst>
          </p:cNvPr>
          <p:cNvSpPr>
            <a:spLocks noGrp="1"/>
          </p:cNvSpPr>
          <p:nvPr/>
        </p:nvSpPr>
        <p:spPr>
          <a:xfrm>
            <a:off x="1097280" y="5148072"/>
            <a:ext cx="96926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CaMeL：PLLM 规划可信控制流，QLLM 隔离处理不可信内容</a:t>
            </a:r>
          </a:p>
        </p:txBody>
      </p:sp>
    </p:spTree>
    <p:extLst>
      <p:ext uri="{BB962C8B-B14F-4D97-AF65-F5344CB8AC3E}">
        <p14:creationId xmlns:p14="http://schemas.microsoft.com/office/powerpoint/2010/main" val="134098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4ABB5-0AAE-483C-8885-A21251BCB0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0294B-03A4-432F-B9E7-8F727A21327F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8A772-90B8-4EEE-8F29-F0C58B93AA92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CaMeL 通过双模型与解释器约束控制流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DC9E0-1ABC-493D-B8CD-720797A14287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2C518-D039-4EDB-9DD3-63C0D487648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4C7F9-0630-40AB-AB78-CAC81C23686F}"/>
              </a:ext>
            </a:extLst>
          </p:cNvPr>
          <p:cNvSpPr>
            <a:spLocks noGrp="1"/>
          </p:cNvSpPr>
          <p:nvPr/>
        </p:nvSpPr>
        <p:spPr>
          <a:xfrm>
            <a:off x="685800" y="1572768"/>
            <a:ext cx="3383280" cy="7315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3A270-4FAD-4EAA-A237-DB3CF2A7D3DA}"/>
              </a:ext>
            </a:extLst>
          </p:cNvPr>
          <p:cNvSpPr>
            <a:spLocks noGrp="1"/>
          </p:cNvSpPr>
          <p:nvPr/>
        </p:nvSpPr>
        <p:spPr>
          <a:xfrm>
            <a:off x="795528" y="1755648"/>
            <a:ext cx="31638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PLLM｜规划模型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76E30-8CB1-44A4-98E1-F4DD4997C1D5}"/>
              </a:ext>
            </a:extLst>
          </p:cNvPr>
          <p:cNvSpPr>
            <a:spLocks noGrp="1"/>
          </p:cNvSpPr>
          <p:nvPr/>
        </p:nvSpPr>
        <p:spPr>
          <a:xfrm>
            <a:off x="795528" y="2194560"/>
            <a:ext cx="3163824" cy="24597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只接收可信用户请求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生成 Python 程序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固定工具调用路径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DBD8F6-8A69-4F9D-9538-0E3A2B9C3034}"/>
              </a:ext>
            </a:extLst>
          </p:cNvPr>
          <p:cNvSpPr>
            <a:spLocks noGrp="1"/>
          </p:cNvSpPr>
          <p:nvPr/>
        </p:nvSpPr>
        <p:spPr>
          <a:xfrm>
            <a:off x="4407408" y="1572768"/>
            <a:ext cx="3383280" cy="7315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30181-19A5-47FF-A881-D645AD0A1986}"/>
              </a:ext>
            </a:extLst>
          </p:cNvPr>
          <p:cNvSpPr>
            <a:spLocks noGrp="1"/>
          </p:cNvSpPr>
          <p:nvPr/>
        </p:nvSpPr>
        <p:spPr>
          <a:xfrm>
            <a:off x="4517136" y="1755648"/>
            <a:ext cx="31638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QLLM｜隔离模型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1FCC3-120B-4062-8C78-F1B7448F1DDD}"/>
              </a:ext>
            </a:extLst>
          </p:cNvPr>
          <p:cNvSpPr>
            <a:spLocks noGrp="1"/>
          </p:cNvSpPr>
          <p:nvPr/>
        </p:nvSpPr>
        <p:spPr>
          <a:xfrm>
            <a:off x="4517136" y="2194560"/>
            <a:ext cx="3163824" cy="24597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读取和总结不可信数据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无敏感工具权限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输出作为数据返回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97D465-B7B6-44EB-AFA7-615CEBC98399}"/>
              </a:ext>
            </a:extLst>
          </p:cNvPr>
          <p:cNvSpPr>
            <a:spLocks noGrp="1"/>
          </p:cNvSpPr>
          <p:nvPr/>
        </p:nvSpPr>
        <p:spPr>
          <a:xfrm>
            <a:off x="8138160" y="1572768"/>
            <a:ext cx="3383280" cy="73152"/>
          </a:xfrm>
          <a:prstGeom prst="rect">
            <a:avLst/>
          </a:prstGeom>
          <a:solidFill>
            <a:srgbClr val="2F7D63"/>
          </a:solidFill>
          <a:ln>
            <a:solidFill>
              <a:srgbClr val="2F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0897-0903-4639-BAEB-E27F0446CBC2}"/>
              </a:ext>
            </a:extLst>
          </p:cNvPr>
          <p:cNvSpPr>
            <a:spLocks noGrp="1"/>
          </p:cNvSpPr>
          <p:nvPr/>
        </p:nvSpPr>
        <p:spPr>
          <a:xfrm>
            <a:off x="8247888" y="1755648"/>
            <a:ext cx="31638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2F7D63"/>
                </a:solidFill>
                <a:latin typeface="Aptos"/>
                <a:ea typeface="Aptos"/>
                <a:cs typeface="Aptos"/>
              </a:defRPr>
            </a:pPr>
            <a:r>
              <a:t>解释器｜运行时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A0B3F-818B-46CB-8D93-A7058FA38007}"/>
              </a:ext>
            </a:extLst>
          </p:cNvPr>
          <p:cNvSpPr>
            <a:spLocks noGrp="1"/>
          </p:cNvSpPr>
          <p:nvPr/>
        </p:nvSpPr>
        <p:spPr>
          <a:xfrm>
            <a:off x="8247888" y="2194560"/>
            <a:ext cx="3163824" cy="24597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追踪值及依赖来源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在工具调用处执行策略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拒绝不满足策略的调用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AFFB541A-3C48-4686-B6EB-ABDCFAA4A979}"/>
              </a:ext>
            </a:extLst>
          </p:cNvPr>
          <p:cNvSpPr>
            <a:spLocks noGrp="1"/>
          </p:cNvSpPr>
          <p:nvPr/>
        </p:nvSpPr>
        <p:spPr>
          <a:xfrm>
            <a:off x="4096512" y="3200400"/>
            <a:ext cx="292608" cy="0"/>
          </a:xfrm>
          <a:prstGeom prst="line">
            <a:avLst/>
          </a:prstGeom>
          <a:ln w="25400">
            <a:solidFill>
              <a:srgbClr val="296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>
            <a:extLst>
              <a:ext uri="{FF2B5EF4-FFF2-40B4-BE49-F238E27FC236}">
                <a16:creationId xmlns:a16="http://schemas.microsoft.com/office/drawing/2014/main" id="{6FE56090-85B0-44D2-A492-9C4FD7E099BA}"/>
              </a:ext>
            </a:extLst>
          </p:cNvPr>
          <p:cNvSpPr>
            <a:spLocks noGrp="1"/>
          </p:cNvSpPr>
          <p:nvPr/>
        </p:nvSpPr>
        <p:spPr>
          <a:xfrm>
            <a:off x="7818120" y="3200400"/>
            <a:ext cx="301752" cy="0"/>
          </a:xfrm>
          <a:prstGeom prst="line">
            <a:avLst/>
          </a:prstGeom>
          <a:ln w="25400">
            <a:solidFill>
              <a:srgbClr val="2F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FA975-CB0D-4EDA-9489-E15800F49DFC}"/>
              </a:ext>
            </a:extLst>
          </p:cNvPr>
          <p:cNvSpPr>
            <a:spLocks noGrp="1"/>
          </p:cNvSpPr>
          <p:nvPr/>
        </p:nvSpPr>
        <p:spPr>
          <a:xfrm>
            <a:off x="1005840" y="5257800"/>
            <a:ext cx="101498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8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不可信值可影响既定计划中的分支选择，但不能引入新的控制流路径（CFI）</a:t>
            </a:r>
          </a:p>
        </p:txBody>
      </p:sp>
    </p:spTree>
    <p:extLst>
      <p:ext uri="{BB962C8B-B14F-4D97-AF65-F5344CB8AC3E}">
        <p14:creationId xmlns:p14="http://schemas.microsoft.com/office/powerpoint/2010/main" val="86498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86B135-8AFC-413F-AAEA-092DEEC81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0A5B5-AABC-49FC-A83A-BD28BC29D3CC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71C27-D039-416F-A3EE-3273B0655470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论文聚焦层级式 agent-as-tool 拓扑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4C778-D663-4CE1-93D2-68EE7A9E89D2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D59C5-0DC8-464B-8BFD-427729ACA8B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DA30D-F9FB-4A11-8113-BCD89AC1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5577840" cy="4051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916A89-46CF-4068-88AE-606362777BA0}"/>
              </a:ext>
            </a:extLst>
          </p:cNvPr>
          <p:cNvSpPr>
            <a:spLocks noGrp="1"/>
          </p:cNvSpPr>
          <p:nvPr/>
        </p:nvSpPr>
        <p:spPr>
          <a:xfrm>
            <a:off x="6629400" y="1645920"/>
            <a:ext cx="46634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0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系统边界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66BA1-C76C-436C-AED6-7450A1F08624}"/>
              </a:ext>
            </a:extLst>
          </p:cNvPr>
          <p:cNvSpPr>
            <a:spLocks noGrp="1"/>
          </p:cNvSpPr>
          <p:nvPr/>
        </p:nvSpPr>
        <p:spPr>
          <a:xfrm>
            <a:off x="6629400" y="2304288"/>
            <a:ext cx="91440" cy="34747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F4F77-400E-45AE-A3D7-3A4578ACC3BB}"/>
              </a:ext>
            </a:extLst>
          </p:cNvPr>
          <p:cNvSpPr>
            <a:spLocks noGrp="1"/>
          </p:cNvSpPr>
          <p:nvPr/>
        </p:nvSpPr>
        <p:spPr>
          <a:xfrm>
            <a:off x="6876288" y="2212848"/>
            <a:ext cx="44805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7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父智能体通过工具调用子智能体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41BEAE-1914-4268-A19B-A83C3ABD627A}"/>
              </a:ext>
            </a:extLst>
          </p:cNvPr>
          <p:cNvSpPr>
            <a:spLocks noGrp="1"/>
          </p:cNvSpPr>
          <p:nvPr/>
        </p:nvSpPr>
        <p:spPr>
          <a:xfrm>
            <a:off x="6629400" y="3172968"/>
            <a:ext cx="91440" cy="34747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0F752-E82E-4770-ACCA-99C00EF3AB33}"/>
              </a:ext>
            </a:extLst>
          </p:cNvPr>
          <p:cNvSpPr>
            <a:spLocks noGrp="1"/>
          </p:cNvSpPr>
          <p:nvPr/>
        </p:nvSpPr>
        <p:spPr>
          <a:xfrm>
            <a:off x="6876288" y="3081528"/>
            <a:ext cx="44805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7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子智能体把调用方当作自己的用户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2EA3D6-F1D1-43B5-A680-24CE3B49A78C}"/>
              </a:ext>
            </a:extLst>
          </p:cNvPr>
          <p:cNvSpPr>
            <a:spLocks noGrp="1"/>
          </p:cNvSpPr>
          <p:nvPr/>
        </p:nvSpPr>
        <p:spPr>
          <a:xfrm>
            <a:off x="6629400" y="4041648"/>
            <a:ext cx="91440" cy="347472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8BD63C-39EA-4D88-AEAA-032070A57517}"/>
              </a:ext>
            </a:extLst>
          </p:cNvPr>
          <p:cNvSpPr>
            <a:spLocks noGrp="1"/>
          </p:cNvSpPr>
          <p:nvPr/>
        </p:nvSpPr>
        <p:spPr>
          <a:xfrm>
            <a:off x="6876288" y="3950208"/>
            <a:ext cx="44805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7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原始 CaMeL 未规定跨智能体通信的信任语义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46DB8-3663-4BC7-8001-D555A4C4D950}"/>
              </a:ext>
            </a:extLst>
          </p:cNvPr>
          <p:cNvSpPr>
            <a:spLocks noGrp="1"/>
          </p:cNvSpPr>
          <p:nvPr/>
        </p:nvSpPr>
        <p:spPr>
          <a:xfrm>
            <a:off x="868680" y="5715000"/>
            <a:ext cx="104241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2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Fig. 1(a) 展示 Orchestrator、SQL Agent 与 Email/Notification Agent 的关系</a:t>
            </a:r>
          </a:p>
        </p:txBody>
      </p:sp>
    </p:spTree>
    <p:extLst>
      <p:ext uri="{BB962C8B-B14F-4D97-AF65-F5344CB8AC3E}">
        <p14:creationId xmlns:p14="http://schemas.microsoft.com/office/powerpoint/2010/main" val="10877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18B636-C367-4B4E-A088-14B92E05B1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46FB6-FAC3-46A9-8B70-4015CCBDBC5F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D0D6F-D75B-4718-8538-E9EEB3C90C70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边界洗白让 SQL 注入变成可信通知指令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50B46-6553-461E-B0CF-CED847F0811B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FD5AA-7E1E-4230-A04D-51646B968D8F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309F68-4D6A-4F5B-814A-AC4495EA3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669280" cy="37126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950CBC2-24AB-4FA5-9F02-0C1C6BCB3C6A}"/>
              </a:ext>
            </a:extLst>
          </p:cNvPr>
          <p:cNvSpPr>
            <a:spLocks noGrp="1"/>
          </p:cNvSpPr>
          <p:nvPr/>
        </p:nvSpPr>
        <p:spPr>
          <a:xfrm>
            <a:off x="6446520" y="1536192"/>
            <a:ext cx="4983480" cy="73152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D4943-7B40-4116-9D7C-3A4C8437A683}"/>
              </a:ext>
            </a:extLst>
          </p:cNvPr>
          <p:cNvSpPr>
            <a:spLocks noGrp="1"/>
          </p:cNvSpPr>
          <p:nvPr/>
        </p:nvSpPr>
        <p:spPr>
          <a:xfrm>
            <a:off x="6556248" y="1719072"/>
            <a:ext cx="47640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B84339"/>
                </a:solidFill>
                <a:latin typeface="Aptos"/>
                <a:ea typeface="Aptos"/>
                <a:cs typeface="Aptos"/>
              </a:defRPr>
            </a:pPr>
            <a:r>
              <a:t>1｜数据库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3F6B1-B264-4FE3-B7E9-FF08E0C8A5C9}"/>
              </a:ext>
            </a:extLst>
          </p:cNvPr>
          <p:cNvSpPr>
            <a:spLocks noGrp="1"/>
          </p:cNvSpPr>
          <p:nvPr/>
        </p:nvSpPr>
        <p:spPr>
          <a:xfrm>
            <a:off x="6556248" y="2157984"/>
            <a:ext cx="4764024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注入要求把申请人数据发往 ruth@email.com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5CBF0-3421-4DB0-84C5-BAC7F9F977F2}"/>
              </a:ext>
            </a:extLst>
          </p:cNvPr>
          <p:cNvSpPr>
            <a:spLocks noGrp="1"/>
          </p:cNvSpPr>
          <p:nvPr/>
        </p:nvSpPr>
        <p:spPr>
          <a:xfrm>
            <a:off x="6446520" y="2761488"/>
            <a:ext cx="4983480" cy="7315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F773E-E739-4825-B032-CC1EED84917F}"/>
              </a:ext>
            </a:extLst>
          </p:cNvPr>
          <p:cNvSpPr>
            <a:spLocks noGrp="1"/>
          </p:cNvSpPr>
          <p:nvPr/>
        </p:nvSpPr>
        <p:spPr>
          <a:xfrm>
            <a:off x="6556248" y="2944368"/>
            <a:ext cx="47640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2｜前两层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78561-9C05-468C-BF3B-91FA1FCA2916}"/>
              </a:ext>
            </a:extLst>
          </p:cNvPr>
          <p:cNvSpPr>
            <a:spLocks noGrp="1"/>
          </p:cNvSpPr>
          <p:nvPr/>
        </p:nvSpPr>
        <p:spPr>
          <a:xfrm>
            <a:off x="6556248" y="3383280"/>
            <a:ext cx="4764024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SQL Agent 与 Orchestrator 将返回值当作不可信数据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7F9E5-D461-401B-BF3C-76FEFFDF78A9}"/>
              </a:ext>
            </a:extLst>
          </p:cNvPr>
          <p:cNvSpPr>
            <a:spLocks noGrp="1"/>
          </p:cNvSpPr>
          <p:nvPr/>
        </p:nvSpPr>
        <p:spPr>
          <a:xfrm>
            <a:off x="6446520" y="3986784"/>
            <a:ext cx="4983480" cy="73152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564C4-7EA3-46AB-A9E7-2FB8136ECA0C}"/>
              </a:ext>
            </a:extLst>
          </p:cNvPr>
          <p:cNvSpPr>
            <a:spLocks noGrp="1"/>
          </p:cNvSpPr>
          <p:nvPr/>
        </p:nvSpPr>
        <p:spPr>
          <a:xfrm>
            <a:off x="6556248" y="4169664"/>
            <a:ext cx="47640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B84339"/>
                </a:solidFill>
                <a:latin typeface="Aptos"/>
                <a:ea typeface="Aptos"/>
                <a:cs typeface="Aptos"/>
              </a:defRPr>
            </a:pPr>
            <a:r>
              <a:t>3｜通知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CEC2A-6D20-49EF-8A97-2C1427F69156}"/>
              </a:ext>
            </a:extLst>
          </p:cNvPr>
          <p:cNvSpPr>
            <a:spLocks noGrp="1"/>
          </p:cNvSpPr>
          <p:nvPr/>
        </p:nvSpPr>
        <p:spPr>
          <a:xfrm>
            <a:off x="6556248" y="4608576"/>
            <a:ext cx="4764024" cy="4480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父把摘要拼进自然语言指令；子 PLLM 读到注入并新增外发邮件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DB2602-200A-483A-BEB9-871732BB7CE1}"/>
              </a:ext>
            </a:extLst>
          </p:cNvPr>
          <p:cNvSpPr>
            <a:spLocks noGrp="1"/>
          </p:cNvSpPr>
          <p:nvPr/>
        </p:nvSpPr>
        <p:spPr>
          <a:xfrm>
            <a:off x="777240" y="576072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三个智能体各自满足 CFI，系统整体仍新增了攻击者邮件调用</a:t>
            </a:r>
          </a:p>
        </p:txBody>
      </p:sp>
    </p:spTree>
    <p:extLst>
      <p:ext uri="{BB962C8B-B14F-4D97-AF65-F5344CB8AC3E}">
        <p14:creationId xmlns:p14="http://schemas.microsoft.com/office/powerpoint/2010/main" val="24190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F9F3E7-209E-426B-8A1E-33D1D34EEA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D9543-4171-4BC9-A49E-9C46C4CC3A2D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4EC15-9A27-49B0-8011-963FF8BA8CE5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非平凡层级系统中的 CFI 一般不组合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4B9A-ADE0-4059-827C-85A44E1E6A4B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3FE6A-DB14-489D-A850-79BD8CE00EA0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C6231-759A-40FD-A66B-3EAE4E56E114}"/>
              </a:ext>
            </a:extLst>
          </p:cNvPr>
          <p:cNvSpPr>
            <a:spLocks noGrp="1"/>
          </p:cNvSpPr>
          <p:nvPr/>
        </p:nvSpPr>
        <p:spPr>
          <a:xfrm>
            <a:off x="822960" y="1444752"/>
            <a:ext cx="10561320" cy="1115568"/>
          </a:xfrm>
          <a:prstGeom prst="rect">
            <a:avLst/>
          </a:prstGeom>
          <a:solidFill>
            <a:srgbClr val="ECEEED"/>
          </a:solidFill>
          <a:ln>
            <a:solidFill>
              <a:srgbClr val="ECE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3575E-86FB-492C-B52C-4F6404F8D0D1}"/>
              </a:ext>
            </a:extLst>
          </p:cNvPr>
          <p:cNvSpPr>
            <a:spLocks noGrp="1"/>
          </p:cNvSpPr>
          <p:nvPr/>
        </p:nvSpPr>
        <p:spPr>
          <a:xfrm>
            <a:off x="1078992" y="1645920"/>
            <a:ext cx="10012680" cy="7132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9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命题：若系统有多个智能体，且至少一个工具返回不可信值，则即使每个智能体单独满足 CFI，系统仍不满足系统级 CFI。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7E2AD0-1F9E-4A9C-B0D2-55FDA920BD22}"/>
              </a:ext>
            </a:extLst>
          </p:cNvPr>
          <p:cNvSpPr>
            <a:spLocks noGrp="1"/>
          </p:cNvSpPr>
          <p:nvPr/>
        </p:nvSpPr>
        <p:spPr>
          <a:xfrm>
            <a:off x="960120" y="3063240"/>
            <a:ext cx="4663440" cy="7315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6F342-1BE1-4544-BADF-6CD374612EE2}"/>
              </a:ext>
            </a:extLst>
          </p:cNvPr>
          <p:cNvSpPr>
            <a:spLocks noGrp="1"/>
          </p:cNvSpPr>
          <p:nvPr/>
        </p:nvSpPr>
        <p:spPr>
          <a:xfrm>
            <a:off x="1069848" y="3246120"/>
            <a:ext cx="4443983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工具智能体有子节点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D89A4-2ACB-4581-ABAF-7E5EAF079F0B}"/>
              </a:ext>
            </a:extLst>
          </p:cNvPr>
          <p:cNvSpPr>
            <a:spLocks noGrp="1"/>
          </p:cNvSpPr>
          <p:nvPr/>
        </p:nvSpPr>
        <p:spPr>
          <a:xfrm>
            <a:off x="1069848" y="3685032"/>
            <a:ext cx="4443983" cy="11795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父调用工具取得不可信值，再把依赖该值的指令传给子节点。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F0E9F7-7EA3-47F4-9026-DA4B7FA485FC}"/>
              </a:ext>
            </a:extLst>
          </p:cNvPr>
          <p:cNvSpPr>
            <a:spLocks noGrp="1"/>
          </p:cNvSpPr>
          <p:nvPr/>
        </p:nvSpPr>
        <p:spPr>
          <a:xfrm>
            <a:off x="6537960" y="3063240"/>
            <a:ext cx="4663440" cy="7315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B7BAC-D922-4EDD-95E2-D06319F5FD1D}"/>
              </a:ext>
            </a:extLst>
          </p:cNvPr>
          <p:cNvSpPr>
            <a:spLocks noGrp="1"/>
          </p:cNvSpPr>
          <p:nvPr/>
        </p:nvSpPr>
        <p:spPr>
          <a:xfrm>
            <a:off x="6647688" y="3246120"/>
            <a:ext cx="4443983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工具智能体有父节点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23EA7-7A80-408F-B44D-44D46DCB4E2D}"/>
              </a:ext>
            </a:extLst>
          </p:cNvPr>
          <p:cNvSpPr>
            <a:spLocks noGrp="1"/>
          </p:cNvSpPr>
          <p:nvPr/>
        </p:nvSpPr>
        <p:spPr>
          <a:xfrm>
            <a:off x="6647688" y="3685032"/>
            <a:ext cx="4443983" cy="11795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父先调用子节点取得不可信值，再把值作为指令二次调用子节点。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C9126-9D0B-4865-8C6D-95FF57ABA358}"/>
              </a:ext>
            </a:extLst>
          </p:cNvPr>
          <p:cNvSpPr>
            <a:spLocks noGrp="1"/>
          </p:cNvSpPr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3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结论依赖论文的表达性假设：系统能按计划将工具返回值用于后续智能体调用。</a:t>
            </a:r>
          </a:p>
        </p:txBody>
      </p:sp>
    </p:spTree>
    <p:extLst>
      <p:ext uri="{BB962C8B-B14F-4D97-AF65-F5344CB8AC3E}">
        <p14:creationId xmlns:p14="http://schemas.microsoft.com/office/powerpoint/2010/main" val="97419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D76F7-B814-4DA0-93CC-7AA5BAF16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20EC5-8A6F-4A33-B406-84A1481B6AF9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7DAAC-C69D-4161-90EE-DCF6FB45A95D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单智能体 CaMeL 仍能阻止直接控制流劫持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A3F39-821A-47B0-A44C-BCE9B608927E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91B3F-88A2-4080-B894-7B2E3B56B48C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E581B-5383-4894-B8C0-14E57AD093D8}"/>
              </a:ext>
            </a:extLst>
          </p:cNvPr>
          <p:cNvSpPr>
            <a:spLocks noGrp="1"/>
          </p:cNvSpPr>
          <p:nvPr/>
        </p:nvSpPr>
        <p:spPr>
          <a:xfrm>
            <a:off x="960120" y="1645920"/>
            <a:ext cx="2880360" cy="1874519"/>
          </a:xfrm>
          <a:prstGeom prst="rect">
            <a:avLst/>
          </a:prstGeom>
          <a:solidFill>
            <a:srgbClr val="E8F1EC"/>
          </a:solidFill>
          <a:ln>
            <a:solidFill>
              <a:srgbClr val="E8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DF695-9E54-45F5-9B59-0599D412B9CB}"/>
              </a:ext>
            </a:extLst>
          </p:cNvPr>
          <p:cNvSpPr>
            <a:spLocks noGrp="1"/>
          </p:cNvSpPr>
          <p:nvPr/>
        </p:nvSpPr>
        <p:spPr>
          <a:xfrm>
            <a:off x="1143000" y="1874519"/>
            <a:ext cx="25146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3400" b="1">
                <a:solidFill>
                  <a:srgbClr val="2F7D63"/>
                </a:solidFill>
                <a:latin typeface="Aptos"/>
                <a:ea typeface="Aptos"/>
                <a:cs typeface="Aptos"/>
              </a:defRPr>
            </a:pPr>
            <a:r>
              <a:t>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8F8A1-CE25-4DB0-B8D1-546F5A1EA249}"/>
              </a:ext>
            </a:extLst>
          </p:cNvPr>
          <p:cNvSpPr>
            <a:spLocks noGrp="1"/>
          </p:cNvSpPr>
          <p:nvPr/>
        </p:nvSpPr>
        <p:spPr>
          <a:xfrm>
            <a:off x="1143000" y="260604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提示注入成功率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A4BDCE-0055-4AD3-A1E1-88E734A36398}"/>
              </a:ext>
            </a:extLst>
          </p:cNvPr>
          <p:cNvSpPr>
            <a:spLocks noGrp="1"/>
          </p:cNvSpPr>
          <p:nvPr/>
        </p:nvSpPr>
        <p:spPr>
          <a:xfrm>
            <a:off x="4617720" y="1645920"/>
            <a:ext cx="2880360" cy="1874519"/>
          </a:xfrm>
          <a:prstGeom prst="rect">
            <a:avLst/>
          </a:prstGeom>
          <a:solidFill>
            <a:srgbClr val="E8F1EC"/>
          </a:solidFill>
          <a:ln>
            <a:solidFill>
              <a:srgbClr val="E8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B6BF89-AC57-4E43-8EC8-15B65F729EA7}"/>
              </a:ext>
            </a:extLst>
          </p:cNvPr>
          <p:cNvSpPr>
            <a:spLocks noGrp="1"/>
          </p:cNvSpPr>
          <p:nvPr/>
        </p:nvSpPr>
        <p:spPr>
          <a:xfrm>
            <a:off x="4800600" y="1874519"/>
            <a:ext cx="25146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3400" b="1">
                <a:solidFill>
                  <a:srgbClr val="2F7D63"/>
                </a:solidFill>
                <a:latin typeface="Aptos"/>
                <a:ea typeface="Aptos"/>
                <a:cs typeface="Aptos"/>
              </a:defRPr>
            </a:pPr>
            <a:r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1AB13-7C7A-432E-9864-CDD771354BF4}"/>
              </a:ext>
            </a:extLst>
          </p:cNvPr>
          <p:cNvSpPr>
            <a:spLocks noGrp="1"/>
          </p:cNvSpPr>
          <p:nvPr/>
        </p:nvSpPr>
        <p:spPr>
          <a:xfrm>
            <a:off x="4800600" y="260604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良性查询准确率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586892-CBD1-4C1B-ADDB-B268B5165261}"/>
              </a:ext>
            </a:extLst>
          </p:cNvPr>
          <p:cNvSpPr>
            <a:spLocks noGrp="1"/>
          </p:cNvSpPr>
          <p:nvPr/>
        </p:nvSpPr>
        <p:spPr>
          <a:xfrm>
            <a:off x="8275320" y="1645920"/>
            <a:ext cx="2880360" cy="1874519"/>
          </a:xfrm>
          <a:prstGeom prst="rect">
            <a:avLst/>
          </a:prstGeom>
          <a:solidFill>
            <a:srgbClr val="E5ECEF"/>
          </a:solidFill>
          <a:ln>
            <a:solidFill>
              <a:srgbClr val="E5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FCE190-7B04-476A-9A27-739A73221F18}"/>
              </a:ext>
            </a:extLst>
          </p:cNvPr>
          <p:cNvSpPr>
            <a:spLocks noGrp="1"/>
          </p:cNvSpPr>
          <p:nvPr/>
        </p:nvSpPr>
        <p:spPr>
          <a:xfrm>
            <a:off x="8458200" y="1874519"/>
            <a:ext cx="25146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30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5 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95D71D-B980-415A-AC92-ABA734FBC7B2}"/>
              </a:ext>
            </a:extLst>
          </p:cNvPr>
          <p:cNvSpPr>
            <a:spLocks noGrp="1"/>
          </p:cNvSpPr>
          <p:nvPr/>
        </p:nvSpPr>
        <p:spPr>
          <a:xfrm>
            <a:off x="8458200" y="260604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temperature =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0727D2-EF58-4FFB-9B07-74B262B42135}"/>
              </a:ext>
            </a:extLst>
          </p:cNvPr>
          <p:cNvSpPr>
            <a:spLocks noGrp="1"/>
          </p:cNvSpPr>
          <p:nvPr/>
        </p:nvSpPr>
        <p:spPr>
          <a:xfrm>
            <a:off x="1005840" y="4251960"/>
            <a:ext cx="1014984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21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OMNI-Leak 拓扑实验：CaMeL 阻止需要直接劫持 SQL Agent 控制流的攻击。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298D01-D918-450C-8DAD-9B289E2C74D4}"/>
              </a:ext>
            </a:extLst>
          </p:cNvPr>
          <p:cNvSpPr>
            <a:spLocks noGrp="1"/>
          </p:cNvSpPr>
          <p:nvPr/>
        </p:nvSpPr>
        <p:spPr>
          <a:xfrm>
            <a:off x="1234440" y="5257800"/>
            <a:ext cx="97840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6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局限不在单体机制本身，而在跨边界时不可信内容被当成可信输入。</a:t>
            </a:r>
          </a:p>
        </p:txBody>
      </p:sp>
    </p:spTree>
    <p:extLst>
      <p:ext uri="{BB962C8B-B14F-4D97-AF65-F5344CB8AC3E}">
        <p14:creationId xmlns:p14="http://schemas.microsoft.com/office/powerpoint/2010/main" val="144635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065A0C-AAF0-4EF8-A1C8-F722BBC8D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0671F-C09F-436F-93E7-E399144CD912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E9BC7-BD7E-4135-9ED3-CEDBF9BCCA3E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multi-CaMeL 将指令与数据分开传递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285B6-3F67-4B28-B12F-8E60E5098F91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05E55-7420-4E73-AD7B-2D2ED232D6FB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46A26-C74F-4B2E-B467-37B4FFD8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486400" cy="3066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29FBFD-F01C-4584-9638-D5EFB60F7C87}"/>
              </a:ext>
            </a:extLst>
          </p:cNvPr>
          <p:cNvSpPr>
            <a:spLocks noGrp="1"/>
          </p:cNvSpPr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调用接口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CE4BCD-1268-4B22-BA9A-688A828C3680}"/>
              </a:ext>
            </a:extLst>
          </p:cNvPr>
          <p:cNvSpPr>
            <a:spLocks noGrp="1"/>
          </p:cNvSpPr>
          <p:nvPr/>
        </p:nvSpPr>
        <p:spPr>
          <a:xfrm>
            <a:off x="6400800" y="1993392"/>
            <a:ext cx="502920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200" b="1">
                <a:solidFill>
                  <a:srgbClr val="162B43"/>
                </a:solidFill>
                <a:latin typeface="Consolas"/>
                <a:ea typeface="Consolas"/>
                <a:cs typeface="Consolas"/>
              </a:defRPr>
            </a:pPr>
            <a:r>
              <a:t>query_agent(message, variables)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FECD1-0649-462F-A62E-F8C05D66ED04}"/>
              </a:ext>
            </a:extLst>
          </p:cNvPr>
          <p:cNvSpPr>
            <a:spLocks noGrp="1"/>
          </p:cNvSpPr>
          <p:nvPr/>
        </p:nvSpPr>
        <p:spPr>
          <a:xfrm>
            <a:off x="6446520" y="3246120"/>
            <a:ext cx="4800600" cy="7315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09F6B-E1FA-4DD1-BAFE-742162F5FEB0}"/>
              </a:ext>
            </a:extLst>
          </p:cNvPr>
          <p:cNvSpPr>
            <a:spLocks noGrp="1"/>
          </p:cNvSpPr>
          <p:nvPr/>
        </p:nvSpPr>
        <p:spPr>
          <a:xfrm>
            <a:off x="6556248" y="3429000"/>
            <a:ext cx="458114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message｜可信指令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594C73-23D1-48CE-825C-E9332FC1F15E}"/>
              </a:ext>
            </a:extLst>
          </p:cNvPr>
          <p:cNvSpPr>
            <a:spLocks noGrp="1"/>
          </p:cNvSpPr>
          <p:nvPr/>
        </p:nvSpPr>
        <p:spPr>
          <a:xfrm>
            <a:off x="6556248" y="3867911"/>
            <a:ext cx="4581144" cy="3566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子 PLLM 可见；不得包含工具派生值。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911E4D-87D9-4B96-A53B-69868E14DE0B}"/>
              </a:ext>
            </a:extLst>
          </p:cNvPr>
          <p:cNvSpPr>
            <a:spLocks noGrp="1"/>
          </p:cNvSpPr>
          <p:nvPr/>
        </p:nvSpPr>
        <p:spPr>
          <a:xfrm>
            <a:off x="6446520" y="4572000"/>
            <a:ext cx="4800600" cy="7315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68683B-413C-4C10-B27B-1DBE835052D1}"/>
              </a:ext>
            </a:extLst>
          </p:cNvPr>
          <p:cNvSpPr>
            <a:spLocks noGrp="1"/>
          </p:cNvSpPr>
          <p:nvPr/>
        </p:nvSpPr>
        <p:spPr>
          <a:xfrm>
            <a:off x="6556248" y="4754880"/>
            <a:ext cx="458114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variables｜数据通道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ADF7C-042C-4D99-890C-6044E8B9FE83}"/>
              </a:ext>
            </a:extLst>
          </p:cNvPr>
          <p:cNvSpPr>
            <a:spLocks noGrp="1"/>
          </p:cNvSpPr>
          <p:nvPr/>
        </p:nvSpPr>
        <p:spPr>
          <a:xfrm>
            <a:off x="6556248" y="5193792"/>
            <a:ext cx="4581144" cy="3566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值对 PLLM 不透明；由运行时 get_variable() 读取。</a:t>
            </a:r>
          </a:p>
        </p:txBody>
      </p:sp>
    </p:spTree>
    <p:extLst>
      <p:ext uri="{BB962C8B-B14F-4D97-AF65-F5344CB8AC3E}">
        <p14:creationId xmlns:p14="http://schemas.microsoft.com/office/powerpoint/2010/main" val="161444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DD9B1-61FB-42B9-8B1B-D3F919A600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5F557-9E5B-41BC-BB03-1B0F81A3649E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A2E9C-E42F-47AF-83F0-D2F12742224B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解释器强制两项跨边界保证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6DD38-4C74-4754-A95C-15D8EE5ACBCF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69824-A5FB-4BEC-A060-C5465A357B10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F54E5-3D09-4E64-88ED-916241E68965}"/>
              </a:ext>
            </a:extLst>
          </p:cNvPr>
          <p:cNvSpPr>
            <a:spLocks noGrp="1"/>
          </p:cNvSpPr>
          <p:nvPr/>
        </p:nvSpPr>
        <p:spPr>
          <a:xfrm>
            <a:off x="868680" y="1664208"/>
            <a:ext cx="4983480" cy="7315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9FFC4-55C3-40E5-829E-14FBA7ADFA91}"/>
              </a:ext>
            </a:extLst>
          </p:cNvPr>
          <p:cNvSpPr>
            <a:spLocks noGrp="1"/>
          </p:cNvSpPr>
          <p:nvPr/>
        </p:nvSpPr>
        <p:spPr>
          <a:xfrm>
            <a:off x="978407" y="1847088"/>
            <a:ext cx="47640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指令通道完整性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C1E2A-4718-4A99-A838-83DC99420EB7}"/>
              </a:ext>
            </a:extLst>
          </p:cNvPr>
          <p:cNvSpPr>
            <a:spLocks noGrp="1"/>
          </p:cNvSpPr>
          <p:nvPr/>
        </p:nvSpPr>
        <p:spPr>
          <a:xfrm>
            <a:off x="978407" y="2286000"/>
            <a:ext cx="4764024" cy="24140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agent-as-tool 的 message 参数不得依赖任何工具输出。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解释器检查依赖链，违规调用被拒绝。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79829-D0AF-459D-8B26-864CC0FC98F7}"/>
              </a:ext>
            </a:extLst>
          </p:cNvPr>
          <p:cNvSpPr>
            <a:spLocks noGrp="1"/>
          </p:cNvSpPr>
          <p:nvPr/>
        </p:nvSpPr>
        <p:spPr>
          <a:xfrm>
            <a:off x="6355080" y="1664208"/>
            <a:ext cx="4983480" cy="7315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A5932-F606-40B5-874E-7CE18038D430}"/>
              </a:ext>
            </a:extLst>
          </p:cNvPr>
          <p:cNvSpPr>
            <a:spLocks noGrp="1"/>
          </p:cNvSpPr>
          <p:nvPr/>
        </p:nvSpPr>
        <p:spPr>
          <a:xfrm>
            <a:off x="6464808" y="1847088"/>
            <a:ext cx="4764024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5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跨智能体来源保留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58C853-AD03-4F6D-91D4-E0DE0B52BB4A}"/>
              </a:ext>
            </a:extLst>
          </p:cNvPr>
          <p:cNvSpPr>
            <a:spLocks noGrp="1"/>
          </p:cNvSpPr>
          <p:nvPr/>
        </p:nvSpPr>
        <p:spPr>
          <a:xfrm>
            <a:off x="6464808" y="2286000"/>
            <a:ext cx="4764024" cy="24140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variables 中的 provenance 与 capability 标签跨边界保留。</a:t>
            </a:r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endParaRPr/>
          </a:p>
          <a:p>
            <a:pPr>
              <a:spcAft>
                <a:spcPts val="700"/>
              </a:spcAft>
              <a:buNone/>
              <a:defRPr sz="14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使局部策略检查能够组合为全局执行。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AA2D1-82CF-413B-823C-27479D5B58F4}"/>
              </a:ext>
            </a:extLst>
          </p:cNvPr>
          <p:cNvSpPr>
            <a:spLocks noGrp="1"/>
          </p:cNvSpPr>
          <p:nvPr/>
        </p:nvSpPr>
        <p:spPr>
          <a:xfrm>
            <a:off x="1143000" y="5303520"/>
            <a:ext cx="9875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8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仅增加 API 字段不够；运行时必须阻止工具值被偷偷拼回 message。</a:t>
            </a:r>
          </a:p>
        </p:txBody>
      </p:sp>
    </p:spTree>
    <p:extLst>
      <p:ext uri="{BB962C8B-B14F-4D97-AF65-F5344CB8AC3E}">
        <p14:creationId xmlns:p14="http://schemas.microsoft.com/office/powerpoint/2010/main" val="182236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90839A-FAAB-47DE-AF0D-A910AA5810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2C221-39FD-4B21-B1ED-9C7B83969A7C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249B9-BA6C-4649-AF26-4F1E5D22F08A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数据可引导既定分支，但不能创造新路径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140CB-13E2-4C9F-A91B-8A9B86ABE92E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81550-5A52-4F78-A735-E28C1C500241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20155-6389-491F-8D3E-1658EE67F1E3}"/>
              </a:ext>
            </a:extLst>
          </p:cNvPr>
          <p:cNvSpPr>
            <a:spLocks noGrp="1"/>
          </p:cNvSpPr>
          <p:nvPr/>
        </p:nvSpPr>
        <p:spPr>
          <a:xfrm>
            <a:off x="868680" y="1691640"/>
            <a:ext cx="5029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6CF1B-F3DA-4DBA-898E-BE7CA883FD5E}"/>
              </a:ext>
            </a:extLst>
          </p:cNvPr>
          <p:cNvSpPr>
            <a:spLocks noGrp="1"/>
          </p:cNvSpPr>
          <p:nvPr/>
        </p:nvSpPr>
        <p:spPr>
          <a:xfrm>
            <a:off x="1490472" y="1691640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0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根 PLLM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5E5A1-E62E-44CC-ADDB-C592A1708F1D}"/>
              </a:ext>
            </a:extLst>
          </p:cNvPr>
          <p:cNvSpPr>
            <a:spLocks noGrp="1"/>
          </p:cNvSpPr>
          <p:nvPr/>
        </p:nvSpPr>
        <p:spPr>
          <a:xfrm>
            <a:off x="1490472" y="230428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可信用户指令决定根计划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0EBD6B6B-98FE-4134-831A-A434E6C8BC6F}"/>
              </a:ext>
            </a:extLst>
          </p:cNvPr>
          <p:cNvSpPr>
            <a:spLocks noGrp="1"/>
          </p:cNvSpPr>
          <p:nvPr/>
        </p:nvSpPr>
        <p:spPr>
          <a:xfrm>
            <a:off x="4251960" y="2011680"/>
            <a:ext cx="320040" cy="0"/>
          </a:xfrm>
          <a:prstGeom prst="line">
            <a:avLst/>
          </a:prstGeom>
          <a:ln w="25400">
            <a:solidFill>
              <a:srgbClr val="5B6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FFFBE-0B24-4CB1-A091-7487FF1B817A}"/>
              </a:ext>
            </a:extLst>
          </p:cNvPr>
          <p:cNvSpPr>
            <a:spLocks noGrp="1"/>
          </p:cNvSpPr>
          <p:nvPr/>
        </p:nvSpPr>
        <p:spPr>
          <a:xfrm>
            <a:off x="4663440" y="1691640"/>
            <a:ext cx="5029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DA7E2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BFB25-0FBE-49A8-961F-153330F6FEDF}"/>
              </a:ext>
            </a:extLst>
          </p:cNvPr>
          <p:cNvSpPr>
            <a:spLocks noGrp="1"/>
          </p:cNvSpPr>
          <p:nvPr/>
        </p:nvSpPr>
        <p:spPr>
          <a:xfrm>
            <a:off x="5285232" y="1691640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0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边界检查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23DDD-93FF-4352-8074-C285C6592F14}"/>
              </a:ext>
            </a:extLst>
          </p:cNvPr>
          <p:cNvSpPr>
            <a:spLocks noGrp="1"/>
          </p:cNvSpPr>
          <p:nvPr/>
        </p:nvSpPr>
        <p:spPr>
          <a:xfrm>
            <a:off x="5285232" y="230428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工具派生值只能走 variables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100977C9-B5C5-4926-8A3A-3398E36B3F4F}"/>
              </a:ext>
            </a:extLst>
          </p:cNvPr>
          <p:cNvSpPr>
            <a:spLocks noGrp="1"/>
          </p:cNvSpPr>
          <p:nvPr/>
        </p:nvSpPr>
        <p:spPr>
          <a:xfrm>
            <a:off x="8046720" y="2011680"/>
            <a:ext cx="320040" cy="0"/>
          </a:xfrm>
          <a:prstGeom prst="line">
            <a:avLst/>
          </a:prstGeom>
          <a:ln w="25400">
            <a:solidFill>
              <a:srgbClr val="5B6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224947-F11D-458C-B141-68FEDF4C7580}"/>
              </a:ext>
            </a:extLst>
          </p:cNvPr>
          <p:cNvSpPr>
            <a:spLocks noGrp="1"/>
          </p:cNvSpPr>
          <p:nvPr/>
        </p:nvSpPr>
        <p:spPr>
          <a:xfrm>
            <a:off x="8458200" y="1691640"/>
            <a:ext cx="5029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2F7D63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F4167F-4B21-4801-8861-2AF5575017C5}"/>
              </a:ext>
            </a:extLst>
          </p:cNvPr>
          <p:cNvSpPr>
            <a:spLocks noGrp="1"/>
          </p:cNvSpPr>
          <p:nvPr/>
        </p:nvSpPr>
        <p:spPr>
          <a:xfrm>
            <a:off x="9079992" y="1691640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0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递归展开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45EF2-2544-4620-BD4B-FEAEB100FAFB}"/>
              </a:ext>
            </a:extLst>
          </p:cNvPr>
          <p:cNvSpPr>
            <a:spLocks noGrp="1"/>
          </p:cNvSpPr>
          <p:nvPr/>
        </p:nvSpPr>
        <p:spPr>
          <a:xfrm>
            <a:off x="9079992" y="230428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6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子计划只由可信 message 决定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DF1C04-C4A7-4369-8F8C-B3FE08096F49}"/>
              </a:ext>
            </a:extLst>
          </p:cNvPr>
          <p:cNvSpPr>
            <a:spLocks noGrp="1"/>
          </p:cNvSpPr>
          <p:nvPr/>
        </p:nvSpPr>
        <p:spPr>
          <a:xfrm>
            <a:off x="1097280" y="4114800"/>
            <a:ext cx="9966960" cy="914400"/>
          </a:xfrm>
          <a:prstGeom prst="rect">
            <a:avLst/>
          </a:prstGeom>
          <a:solidFill>
            <a:srgbClr val="E8F1EC"/>
          </a:solidFill>
          <a:ln>
            <a:solidFill>
              <a:srgbClr val="E8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161FDE-1679-4D9D-AD65-5270452A19E8}"/>
              </a:ext>
            </a:extLst>
          </p:cNvPr>
          <p:cNvSpPr>
            <a:spLocks noGrp="1"/>
          </p:cNvSpPr>
          <p:nvPr/>
        </p:nvSpPr>
        <p:spPr>
          <a:xfrm>
            <a:off x="1371600" y="4325112"/>
            <a:ext cx="94183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900" b="1">
                <a:solidFill>
                  <a:srgbClr val="2F7D63"/>
                </a:solidFill>
                <a:latin typeface="Aptos"/>
                <a:ea typeface="Aptos"/>
                <a:cs typeface="Aptos"/>
              </a:defRPr>
            </a:pPr>
            <a:r>
              <a:t>Branch steering：不可信值可以在预先声明的分支中选择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F7E0D-79F4-4A48-96B4-01F2B18204DF}"/>
              </a:ext>
            </a:extLst>
          </p:cNvPr>
          <p:cNvSpPr>
            <a:spLocks noGrp="1"/>
          </p:cNvSpPr>
          <p:nvPr/>
        </p:nvSpPr>
        <p:spPr>
          <a:xfrm>
            <a:off x="1051560" y="5394960"/>
            <a:ext cx="10058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Fig. 7：将摘要放进 message 会洗白；把摘要放进 variables 则 PLLM 不可见。</a:t>
            </a:r>
          </a:p>
        </p:txBody>
      </p:sp>
    </p:spTree>
    <p:extLst>
      <p:ext uri="{BB962C8B-B14F-4D97-AF65-F5344CB8AC3E}">
        <p14:creationId xmlns:p14="http://schemas.microsoft.com/office/powerpoint/2010/main" val="140065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029F5-0235-49F5-8477-4E924E1B51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840C3-69D2-4E4F-BC2D-BC1ADFF6F842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8DDFF-7210-49C6-A4A0-A0747AE6A4B1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评测覆盖安全性与任务效用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F5453-92C4-427B-BDDC-96D5D271B1E9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7F9F3-4A41-4D05-9B8B-EDE5658CC681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FDEBF4-10EB-4981-9F1C-5378519FAE67}"/>
              </a:ext>
            </a:extLst>
          </p:cNvPr>
          <p:cNvGraphicFramePr/>
          <p:nvPr/>
        </p:nvGraphicFramePr>
        <p:xfrm>
          <a:off x="914400" y="1481328"/>
          <a:ext cx="1024127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评测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内容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配置 / 指标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MultiAgentDojo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AgentDojo 的层级多智能体扩展；4 个工具套件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安全 ASR、良性任务成功率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AssetOpsBench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专业资产管理任务；排除 29 个不可完成任务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任务成功率，n = 112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五个后端模型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Claude Fable 5、GPT-5.5、GPT-4.1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Gemini 2.5 Pro、Gemini 2.5 Flash-Lite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AEC398-62DD-4648-A08B-C96E234D8407}"/>
              </a:ext>
            </a:extLst>
          </p:cNvPr>
          <p:cNvSpPr>
            <a:spLocks noGrp="1"/>
          </p:cNvSpPr>
          <p:nvPr/>
        </p:nvSpPr>
        <p:spPr>
          <a:xfrm>
            <a:off x="1097280" y="4389120"/>
            <a:ext cx="98755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20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三种比较：无 CaMeL  ·  Individual CaMeL  ·  Multi-CaMeL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BEC04-1B43-4F06-80C0-78D6F800FE03}"/>
              </a:ext>
            </a:extLst>
          </p:cNvPr>
          <p:cNvSpPr>
            <a:spLocks noGrp="1"/>
          </p:cNvSpPr>
          <p:nvPr/>
        </p:nvSpPr>
        <p:spPr>
          <a:xfrm>
            <a:off x="1234440" y="5349240"/>
            <a:ext cx="96012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5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CaMeL 配置补充了工具返回 schema，帮助 PLLM 预先生成解析程序。</a:t>
            </a:r>
          </a:p>
        </p:txBody>
      </p:sp>
    </p:spTree>
    <p:extLst>
      <p:ext uri="{BB962C8B-B14F-4D97-AF65-F5344CB8AC3E}">
        <p14:creationId xmlns:p14="http://schemas.microsoft.com/office/powerpoint/2010/main" val="192932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BAAAD-CE5B-444E-9E48-035E20A1E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E09B6-85F0-46B3-B2A0-7EA14C7026D4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F2BCA-511C-454A-A330-31D314B9CF91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Multi-CaMeL 在 MultiAgentDojo 中 ASR 为 0.0%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A9672-4192-4E9F-8D6E-17C2EA606006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2AD1F-EBDA-4F49-8057-1D187F0D8BA0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D177F7-2BBA-4308-8B4B-BDD9EB879A60}"/>
              </a:ext>
            </a:extLst>
          </p:cNvPr>
          <p:cNvGraphicFramePr/>
          <p:nvPr/>
        </p:nvGraphicFramePr>
        <p:xfrm>
          <a:off x="1828800" y="1572768"/>
          <a:ext cx="859535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配置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平均 ASR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观察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无 CaMeL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12.9%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攻击成功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Individual CaMeL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0.2%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仍有残余边界洗白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Multi-CaMeL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9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评测攻击中未观察到成功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C78A83-0D41-457D-BE69-FD8095FC2608}"/>
              </a:ext>
            </a:extLst>
          </p:cNvPr>
          <p:cNvSpPr>
            <a:spLocks noGrp="1"/>
          </p:cNvSpPr>
          <p:nvPr/>
        </p:nvSpPr>
        <p:spPr>
          <a:xfrm>
            <a:off x="1188720" y="4709160"/>
            <a:ext cx="9784080" cy="7498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B84339"/>
                </a:solidFill>
                <a:latin typeface="Aptos"/>
                <a:ea typeface="Aptos"/>
                <a:cs typeface="Aptos"/>
              </a:defRPr>
            </a:pPr>
            <a:r>
              <a:t>0.0% 是有限基准和实验配置下的结果，不等于对自适应攻击免疫。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EB2D5-433B-47D9-BEB2-E4D685999595}"/>
              </a:ext>
            </a:extLst>
          </p:cNvPr>
          <p:cNvSpPr>
            <a:spLocks noGrp="1"/>
          </p:cNvSpPr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4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GPT-5.5 在无 CaMeL 条件下也观察到 0% ASR，不能据此推断普遍安全。</a:t>
            </a:r>
          </a:p>
        </p:txBody>
      </p:sp>
    </p:spTree>
    <p:extLst>
      <p:ext uri="{BB962C8B-B14F-4D97-AF65-F5344CB8AC3E}">
        <p14:creationId xmlns:p14="http://schemas.microsoft.com/office/powerpoint/2010/main" val="500747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E3759-718E-4A99-B785-46F2E4A4A9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4DBD3-BEB6-493C-AFD2-DAE5FC9C0FED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1F807-4E4F-4AA1-A38C-11F791EB89A1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multi-CaMeL 的增量效用代价较小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DA6C7-305A-4A33-8564-ED261DDC2EDE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07350-FC43-4DC7-B306-F15CF35E7460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41FAB-3814-40B9-9175-1F9A7ABA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623560" cy="281178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DC3102-0203-4485-9A42-D4DE3814CFEE}"/>
              </a:ext>
            </a:extLst>
          </p:cNvPr>
          <p:cNvGraphicFramePr/>
          <p:nvPr/>
        </p:nvGraphicFramePr>
        <p:xfrm>
          <a:off x="6172200" y="1572768"/>
          <a:ext cx="525780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模型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无防护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单体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</a:t>
                      </a:r>
                    </a:p>
                  </a:txBody>
                  <a:tcPr marL="82296" marR="54864" marT="54864" marB="36576">
                    <a:solidFill>
                      <a:srgbClr val="16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Claude Fable 5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88.4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67.0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67.9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GPT-5.5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87.5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82.1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79.5</a:t>
                      </a:r>
                    </a:p>
                  </a:txBody>
                  <a:tcPr marL="82296" marR="54864" marT="54864" marB="36576">
                    <a:solidFill>
                      <a:srgbClr val="E7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GPT-4.1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81.2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64.3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48.2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Gemini 2.5 Pro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75.9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55.4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50.9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Gemini 2.5 Flash-Lite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64.3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20.5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6313B"/>
                          </a:solidFill>
                          <a:latin typeface="Aptos"/>
                          <a:ea typeface="Aptos"/>
                          <a:cs typeface="Aptos"/>
                        </a:rPr>
                        <a:t>26.8</a:t>
                      </a:r>
                    </a:p>
                  </a:txBody>
                  <a:tcPr marL="82296" marR="54864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9E54CFD-D65D-411E-BF0C-7778D7511173}"/>
              </a:ext>
            </a:extLst>
          </p:cNvPr>
          <p:cNvSpPr>
            <a:spLocks noGrp="1"/>
          </p:cNvSpPr>
          <p:nvPr/>
        </p:nvSpPr>
        <p:spPr>
          <a:xfrm>
            <a:off x="822960" y="4754880"/>
            <a:ext cx="106070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multi-CaMeL 相比 Individual CaMeL：平均额外下降 3.2 个百分点；最强两模型平均 0.85。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0421F-185A-44DD-84A3-720B034D633A}"/>
              </a:ext>
            </a:extLst>
          </p:cNvPr>
          <p:cNvSpPr>
            <a:spLocks noGrp="1"/>
          </p:cNvSpPr>
          <p:nvPr/>
        </p:nvSpPr>
        <p:spPr>
          <a:xfrm>
            <a:off x="914400" y="5449824"/>
            <a:ext cx="104241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4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各模型 95% 置信区间重叠；总体效用代价随模型能力增强而趋小。</a:t>
            </a:r>
          </a:p>
        </p:txBody>
      </p:sp>
    </p:spTree>
    <p:extLst>
      <p:ext uri="{BB962C8B-B14F-4D97-AF65-F5344CB8AC3E}">
        <p14:creationId xmlns:p14="http://schemas.microsoft.com/office/powerpoint/2010/main" val="185289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0DAA18-0B6F-48A9-86C9-2F57DB92FF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43"/>
          </a:solidFill>
          <a:ln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DA982-029D-44E2-A198-E105C0D81057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900" b="1">
                <a:solidFill>
                  <a:srgbClr val="296899"/>
                </a:solidFill>
                <a:latin typeface="Aptos"/>
                <a:ea typeface="Aptos"/>
                <a:cs typeface="Aptos"/>
              </a:defRPr>
            </a:pPr>
            <a:r>
              <a:t>CAN CAMELS TALK?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07C15-0770-422A-9911-AA052BD6C7C8}"/>
              </a:ext>
            </a:extLst>
          </p:cNvPr>
          <p:cNvSpPr>
            <a:spLocks noGrp="1"/>
          </p:cNvSpPr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27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结论边界：拓扑、性质与评测范围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0A45D-84A1-4475-85ED-80B736835B66}"/>
              </a:ext>
            </a:extLst>
          </p:cNvPr>
          <p:cNvSpPr>
            <a:spLocks noGrp="1"/>
          </p:cNvSpPr>
          <p:nvPr/>
        </p:nvSpPr>
        <p:spPr>
          <a:xfrm>
            <a:off x="566928" y="6510528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800" b="0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Peters-Gill et al.  |  arXiv:2610.05640v1  | 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B2F15-FD9D-4B39-9C9F-41643F782D2E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700"/>
              </a:spcAft>
              <a:buNone/>
              <a:defRPr sz="900" b="1">
                <a:solidFill>
                  <a:srgbClr val="5B6873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D9AA1B-7469-43DF-96BF-0B83F0647262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91440" cy="347472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06B79-06C7-4A9E-BFB9-FF0EAEDC3FCD}"/>
              </a:ext>
            </a:extLst>
          </p:cNvPr>
          <p:cNvSpPr>
            <a:spLocks noGrp="1"/>
          </p:cNvSpPr>
          <p:nvPr/>
        </p:nvSpPr>
        <p:spPr>
          <a:xfrm>
            <a:off x="1024128" y="1508760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拓扑：形式化分析限于树状层级 agent-as-tool 系统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533E00-FDF1-4CFE-98B0-9B48CCD0150B}"/>
              </a:ext>
            </a:extLst>
          </p:cNvPr>
          <p:cNvSpPr>
            <a:spLocks noGrp="1"/>
          </p:cNvSpPr>
          <p:nvPr/>
        </p:nvSpPr>
        <p:spPr>
          <a:xfrm>
            <a:off x="777240" y="2450592"/>
            <a:ext cx="91440" cy="347472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1688D-0A0A-4E01-8573-DC2A1E12C8F0}"/>
              </a:ext>
            </a:extLst>
          </p:cNvPr>
          <p:cNvSpPr>
            <a:spLocks noGrp="1"/>
          </p:cNvSpPr>
          <p:nvPr/>
        </p:nvSpPr>
        <p:spPr>
          <a:xfrm>
            <a:off x="1024128" y="2359152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安全性质：论文证明 CFI 与 CaMeL 安全，不主张更强的 TIPNI 等信息流性质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C5624-E8F4-4D6D-8392-862B6859A484}"/>
              </a:ext>
            </a:extLst>
          </p:cNvPr>
          <p:cNvSpPr>
            <a:spLocks noGrp="1"/>
          </p:cNvSpPr>
          <p:nvPr/>
        </p:nvSpPr>
        <p:spPr>
          <a:xfrm>
            <a:off x="777240" y="3300984"/>
            <a:ext cx="91440" cy="347472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7EF22-3ECA-4AA0-B825-332270B9BB13}"/>
              </a:ext>
            </a:extLst>
          </p:cNvPr>
          <p:cNvSpPr>
            <a:spLocks noGrp="1"/>
          </p:cNvSpPr>
          <p:nvPr/>
        </p:nvSpPr>
        <p:spPr>
          <a:xfrm>
            <a:off x="1024128" y="3209544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实现：继承 CaMeL 解释器局限，可能漏掉未采取分支中的赋值依赖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567B04-31FF-42CE-AB86-72CB1350E945}"/>
              </a:ext>
            </a:extLst>
          </p:cNvPr>
          <p:cNvSpPr>
            <a:spLocks noGrp="1"/>
          </p:cNvSpPr>
          <p:nvPr/>
        </p:nvSpPr>
        <p:spPr>
          <a:xfrm>
            <a:off x="777240" y="4151375"/>
            <a:ext cx="91440" cy="347472"/>
          </a:xfrm>
          <a:prstGeom prst="rect">
            <a:avLst/>
          </a:prstGeom>
          <a:solidFill>
            <a:srgbClr val="2F7D63"/>
          </a:solidFill>
          <a:ln>
            <a:solidFill>
              <a:srgbClr val="2F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2F95D-7D99-431E-8A0D-F568C76E1E16}"/>
              </a:ext>
            </a:extLst>
          </p:cNvPr>
          <p:cNvSpPr>
            <a:spLocks noGrp="1"/>
          </p:cNvSpPr>
          <p:nvPr/>
        </p:nvSpPr>
        <p:spPr>
          <a:xfrm>
            <a:off x="1024128" y="4059935"/>
            <a:ext cx="10424159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26313B"/>
                </a:solidFill>
                <a:latin typeface="Aptos"/>
                <a:ea typeface="Aptos"/>
                <a:cs typeface="Aptos"/>
              </a:defRPr>
            </a:pPr>
            <a:r>
              <a:t>评测：采用平凡安全策略；ASR 为 0.0% 不能外推为自适应攻击免疫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7F3FDA-D087-4A03-B620-326CF0486DD8}"/>
              </a:ext>
            </a:extLst>
          </p:cNvPr>
          <p:cNvSpPr>
            <a:spLocks noGrp="1"/>
          </p:cNvSpPr>
          <p:nvPr/>
        </p:nvSpPr>
        <p:spPr>
          <a:xfrm>
            <a:off x="868680" y="5257800"/>
            <a:ext cx="10424160" cy="603504"/>
          </a:xfrm>
          <a:prstGeom prst="rect">
            <a:avLst/>
          </a:prstGeom>
          <a:solidFill>
            <a:srgbClr val="EFE9DE"/>
          </a:solidFill>
          <a:ln>
            <a:solidFill>
              <a:srgbClr val="EF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14629B-FA6A-41C0-AFCC-4002F183F4DB}"/>
              </a:ext>
            </a:extLst>
          </p:cNvPr>
          <p:cNvSpPr>
            <a:spLocks noGrp="1"/>
          </p:cNvSpPr>
          <p:nvPr/>
        </p:nvSpPr>
        <p:spPr>
          <a:xfrm>
            <a:off x="1097280" y="5367528"/>
            <a:ext cx="9966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  <a:buNone/>
              <a:defRPr sz="1600" b="1">
                <a:solidFill>
                  <a:srgbClr val="162B43"/>
                </a:solidFill>
                <a:latin typeface="Aptos"/>
                <a:ea typeface="Aptos"/>
                <a:cs typeface="Aptos"/>
              </a:defRPr>
            </a:pPr>
            <a:r>
              <a:t>讨论：DAG / 网状拓扑、数据通道净化与权限策略如何组合？</a:t>
            </a:r>
          </a:p>
        </p:txBody>
      </p:sp>
    </p:spTree>
    <p:extLst>
      <p:ext uri="{BB962C8B-B14F-4D97-AF65-F5344CB8AC3E}">
        <p14:creationId xmlns:p14="http://schemas.microsoft.com/office/powerpoint/2010/main" val="1698493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7D06C-8752-49F0-BDEE-0FA76B4CEBAD}"/>
              </a:ext>
            </a:extLst>
          </p:cNvPr>
          <p:cNvSpPr>
            <a:spLocks noGrp="1"/>
          </p:cNvSpPr>
          <p:nvPr/>
        </p:nvSpPr>
        <p:spPr>
          <a:xfrm>
            <a:off x="731520" y="502920"/>
            <a:ext cx="107899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300" b="1">
                <a:solidFill>
                  <a:srgbClr val="ADCDDC"/>
                </a:solidFill>
                <a:latin typeface="Aptos"/>
                <a:ea typeface="Aptos"/>
                <a:cs typeface="Aptos"/>
              </a:defRPr>
            </a:pPr>
            <a:r>
              <a:t>结论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FB325-B786-40F7-9D24-5F891EF0DD2C}"/>
              </a:ext>
            </a:extLst>
          </p:cNvPr>
          <p:cNvSpPr>
            <a:spLocks noGrp="1"/>
          </p:cNvSpPr>
          <p:nvPr/>
        </p:nvSpPr>
        <p:spPr>
          <a:xfrm>
            <a:off x="731520" y="1051560"/>
            <a:ext cx="106070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信任等级必须跨边界显式保留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176BE-976C-40E9-8747-5616966CA578}"/>
              </a:ext>
            </a:extLst>
          </p:cNvPr>
          <p:cNvSpPr>
            <a:spLocks noGrp="1"/>
          </p:cNvSpPr>
          <p:nvPr/>
        </p:nvSpPr>
        <p:spPr>
          <a:xfrm>
            <a:off x="868680" y="2057400"/>
            <a:ext cx="100584" cy="384048"/>
          </a:xfrm>
          <a:prstGeom prst="rect">
            <a:avLst/>
          </a:prstGeom>
          <a:solidFill>
            <a:srgbClr val="296899"/>
          </a:solidFill>
          <a:ln>
            <a:solidFill>
              <a:srgbClr val="29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543D1-A326-4DDD-B29D-C8FDCD03E179}"/>
              </a:ext>
            </a:extLst>
          </p:cNvPr>
          <p:cNvSpPr>
            <a:spLocks noGrp="1"/>
          </p:cNvSpPr>
          <p:nvPr/>
        </p:nvSpPr>
        <p:spPr>
          <a:xfrm>
            <a:off x="1143000" y="2011680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形式化：层级多智能体中的 CFI 一般不组合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A1DB9-E1C1-4C50-A738-4D4177E619AF}"/>
              </a:ext>
            </a:extLst>
          </p:cNvPr>
          <p:cNvSpPr>
            <a:spLocks noGrp="1"/>
          </p:cNvSpPr>
          <p:nvPr/>
        </p:nvSpPr>
        <p:spPr>
          <a:xfrm>
            <a:off x="868680" y="2752344"/>
            <a:ext cx="100584" cy="384048"/>
          </a:xfrm>
          <a:prstGeom prst="rect">
            <a:avLst/>
          </a:prstGeom>
          <a:solidFill>
            <a:srgbClr val="B84339"/>
          </a:solidFill>
          <a:ln>
            <a:solidFill>
              <a:srgbClr val="B8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91D55-946B-40F9-8AFF-961F2A393930}"/>
              </a:ext>
            </a:extLst>
          </p:cNvPr>
          <p:cNvSpPr>
            <a:spLocks noGrp="1"/>
          </p:cNvSpPr>
          <p:nvPr/>
        </p:nvSpPr>
        <p:spPr>
          <a:xfrm>
            <a:off x="1143000" y="2706624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攻击：边界洗白可绕过各自安全的组成智能体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A5EEE-D5A8-4954-826E-4319B50A3364}"/>
              </a:ext>
            </a:extLst>
          </p:cNvPr>
          <p:cNvSpPr>
            <a:spLocks noGrp="1"/>
          </p:cNvSpPr>
          <p:nvPr/>
        </p:nvSpPr>
        <p:spPr>
          <a:xfrm>
            <a:off x="868680" y="3447288"/>
            <a:ext cx="100584" cy="384048"/>
          </a:xfrm>
          <a:prstGeom prst="rect">
            <a:avLst/>
          </a:prstGeom>
          <a:solidFill>
            <a:srgbClr val="DA7E2F"/>
          </a:solidFill>
          <a:ln>
            <a:solidFill>
              <a:srgbClr val="DA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F7D41-0393-490A-B8E7-CB0EA4482805}"/>
              </a:ext>
            </a:extLst>
          </p:cNvPr>
          <p:cNvSpPr>
            <a:spLocks noGrp="1"/>
          </p:cNvSpPr>
          <p:nvPr/>
        </p:nvSpPr>
        <p:spPr>
          <a:xfrm>
            <a:off x="1143000" y="3401568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方案：multi-CaMeL 分离 message 与 variables 并保留来源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7205B-57AE-464B-8F1F-F2A9D23D5CC6}"/>
              </a:ext>
            </a:extLst>
          </p:cNvPr>
          <p:cNvSpPr>
            <a:spLocks noGrp="1"/>
          </p:cNvSpPr>
          <p:nvPr/>
        </p:nvSpPr>
        <p:spPr>
          <a:xfrm>
            <a:off x="868680" y="4142232"/>
            <a:ext cx="100584" cy="384048"/>
          </a:xfrm>
          <a:prstGeom prst="rect">
            <a:avLst/>
          </a:prstGeom>
          <a:solidFill>
            <a:srgbClr val="2F7D63"/>
          </a:solidFill>
          <a:ln>
            <a:solidFill>
              <a:srgbClr val="2F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2A177-DD77-4AE6-9F26-6763FA5BD410}"/>
              </a:ext>
            </a:extLst>
          </p:cNvPr>
          <p:cNvSpPr>
            <a:spLocks noGrp="1"/>
          </p:cNvSpPr>
          <p:nvPr/>
        </p:nvSpPr>
        <p:spPr>
          <a:xfrm>
            <a:off x="1143000" y="4096512"/>
            <a:ext cx="98755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结果：MultiAgentDojo 平均 ASR 由 12.9% / 0.2% 降至 0.0%</a:t>
            </a:r>
          </a:p>
        </p:txBody>
      </p:sp>
    </p:spTree>
    <p:extLst>
      <p:ext uri="{BB962C8B-B14F-4D97-AF65-F5344CB8AC3E}">
        <p14:creationId xmlns:p14="http://schemas.microsoft.com/office/powerpoint/2010/main" val="152989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DocSecurity>0</DocSecurity>
  <PresentationFormat>宽屏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li1650195163@outlook.com</cp:lastModifiedBy>
  <cp:revision>1</cp:revision>
  <dcterms:created xsi:type="dcterms:W3CDTF">2026-10-22T12:10:15Z</dcterms:created>
  <dcterms:modified xsi:type="dcterms:W3CDTF">2026-10-22T12:12:18Z</dcterms:modified>
</cp:coreProperties>
</file>